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kzentica Bold" charset="1" panose="02000000000000000000"/>
      <p:regular r:id="rId25"/>
    </p:embeddedFont>
    <p:embeddedFont>
      <p:font typeface="DM Sans" charset="1" panose="00000000000000000000"/>
      <p:regular r:id="rId26"/>
    </p:embeddedFont>
    <p:embeddedFont>
      <p:font typeface="DM Sans Bold" charset="1" panose="00000000000000000000"/>
      <p:regular r:id="rId27"/>
    </p:embeddedFont>
    <p:embeddedFont>
      <p:font typeface="Calibri (MS)" charset="1" panose="020F0502020204030204"/>
      <p:regular r:id="rId28"/>
    </p:embeddedFont>
    <p:embeddedFont>
      <p:font typeface="Calibri (MS) Bold" charset="1" panose="020F0702030404030204"/>
      <p:regular r:id="rId29"/>
    </p:embeddedFont>
    <p:embeddedFont>
      <p:font typeface="Open Sans Bold" charset="1" panose="00000000000000000000"/>
      <p:regular r:id="rId30"/>
    </p:embeddedFont>
    <p:embeddedFont>
      <p:font typeface="Poppins Bold" charset="1" panose="000008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jpeg" Type="http://schemas.openxmlformats.org/officeDocument/2006/relationships/image"/><Relationship Id="rId12" Target="../media/image11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44908" y="3240271"/>
            <a:ext cx="11198184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0"/>
              </a:lnSpc>
            </a:pPr>
            <a:r>
              <a:rPr lang="en-US" b="true" sz="12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STOCK MANAGEMENT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47704" y="6385625"/>
            <a:ext cx="10592592" cy="174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20"/>
              </a:lnSpc>
              <a:spcBef>
                <a:spcPct val="0"/>
              </a:spcBef>
            </a:pPr>
            <a:r>
              <a:rPr lang="en-US" sz="5014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Presented by Karim Kammoun &amp; Adam Kassis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05687" y="9639700"/>
            <a:ext cx="10592592" cy="52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8 May 2026 - Faculty of Sciences Sfax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711170" y="3851294"/>
            <a:ext cx="3092024" cy="30920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-77410">
              <a:off x="-2" y="-2"/>
              <a:ext cx="812804" cy="812804"/>
            </a:xfrm>
            <a:custGeom>
              <a:avLst/>
              <a:gdLst/>
              <a:ahLst/>
              <a:cxnLst/>
              <a:rect r="r" b="b" t="t" l="l"/>
              <a:pathLst>
                <a:path h="812804" w="812804">
                  <a:moveTo>
                    <a:pt x="415552" y="105"/>
                  </a:moveTo>
                  <a:cubicBezTo>
                    <a:pt x="191161" y="-4949"/>
                    <a:pt x="5159" y="172860"/>
                    <a:pt x="105" y="397252"/>
                  </a:cubicBezTo>
                  <a:cubicBezTo>
                    <a:pt x="-4949" y="621643"/>
                    <a:pt x="172860" y="807645"/>
                    <a:pt x="397252" y="812699"/>
                  </a:cubicBezTo>
                  <a:cubicBezTo>
                    <a:pt x="621643" y="817753"/>
                    <a:pt x="807645" y="639944"/>
                    <a:pt x="812699" y="415552"/>
                  </a:cubicBezTo>
                  <a:cubicBezTo>
                    <a:pt x="817753" y="191161"/>
                    <a:pt x="639944" y="5159"/>
                    <a:pt x="415552" y="105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484806" y="3851294"/>
            <a:ext cx="3092024" cy="309202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  <a:ln w="38100" cap="sq">
              <a:solidFill>
                <a:srgbClr val="004AA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5541295" y="7621335"/>
            <a:ext cx="3431773" cy="40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3068" b="true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Karim Kammoun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5862" y="7621335"/>
            <a:ext cx="3089911" cy="40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3068" b="true">
                <a:solidFill>
                  <a:srgbClr val="004AAD"/>
                </a:solidFill>
                <a:latin typeface="DM Sans Bold"/>
                <a:ea typeface="DM Sans Bold"/>
                <a:cs typeface="DM Sans Bold"/>
                <a:sym typeface="DM Sans Bold"/>
              </a:rPr>
              <a:t>Adam Kassis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1549" y="1857435"/>
            <a:ext cx="678490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OUR TEAM</a:t>
            </a:r>
          </a:p>
        </p:txBody>
      </p:sp>
    </p:spTree>
  </p:cSld>
  <p:clrMapOvr>
    <a:masterClrMapping/>
  </p:clrMapOvr>
  <p:transition spd="fast">
    <p:cover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06848" y="5667277"/>
            <a:ext cx="14474303" cy="67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2"/>
              </a:lnSpc>
            </a:pPr>
            <a:r>
              <a:rPr lang="en-US" sz="4884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What we want to achieve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3141" y="3820643"/>
            <a:ext cx="11281719" cy="178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29"/>
              </a:lnSpc>
            </a:pPr>
            <a:r>
              <a:rPr lang="en-US" b="true" sz="12929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OBJECTIVE</a:t>
            </a:r>
          </a:p>
        </p:txBody>
      </p:sp>
    </p:spTree>
  </p:cSld>
  <p:clrMapOvr>
    <a:masterClrMapping/>
  </p:clrMapOvr>
  <p:transition spd="fast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364556"/>
            <a:ext cx="969332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OUR KEY OBJECTIVES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40915" y="2808245"/>
            <a:ext cx="12606170" cy="6257927"/>
            <a:chOff x="0" y="0"/>
            <a:chExt cx="16808227" cy="834390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247199" cy="8343903"/>
              <a:chOff x="0" y="0"/>
              <a:chExt cx="3305391" cy="52561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55888" y="587666"/>
              <a:ext cx="3535403" cy="1804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53"/>
                </a:lnSpc>
              </a:pPr>
              <a:r>
                <a:rPr lang="en-US" sz="81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49441" y="2540938"/>
              <a:ext cx="3948297" cy="153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76"/>
                </a:lnSpc>
              </a:pPr>
              <a:r>
                <a:rPr lang="en-US" sz="4063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49441" y="4408485"/>
              <a:ext cx="3948297" cy="2969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</a:pPr>
              <a:r>
                <a:rPr lang="en-US" sz="3047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Organize products by categories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5780514" y="0"/>
              <a:ext cx="5247199" cy="8343903"/>
              <a:chOff x="0" y="0"/>
              <a:chExt cx="3305391" cy="525611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9B59B6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6636401" y="587666"/>
              <a:ext cx="3535403" cy="1629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53"/>
                </a:lnSpc>
              </a:pPr>
              <a:r>
                <a:rPr lang="en-US" sz="81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🛍️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429955" y="2540938"/>
              <a:ext cx="3948297" cy="153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76"/>
                </a:lnSpc>
              </a:pPr>
              <a:r>
                <a:rPr lang="en-US" sz="4063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429955" y="4408485"/>
              <a:ext cx="3948297" cy="12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</a:pPr>
              <a:r>
                <a:rPr lang="en-US" sz="3047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Add, edit, view products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1561027" y="0"/>
              <a:ext cx="5247199" cy="8343903"/>
              <a:chOff x="0" y="0"/>
              <a:chExt cx="3305391" cy="525611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2ECC71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2416915" y="587666"/>
              <a:ext cx="3535403" cy="1629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53"/>
                </a:lnSpc>
              </a:pPr>
              <a:r>
                <a:rPr lang="en-US" sz="81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2210468" y="2540938"/>
              <a:ext cx="3948297" cy="153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76"/>
                </a:lnSpc>
              </a:pPr>
              <a:r>
                <a:rPr lang="en-US" sz="4063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2210468" y="4408485"/>
              <a:ext cx="3948297" cy="29698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</a:pPr>
              <a:r>
                <a:rPr lang="en-US" sz="3047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quantities in real-time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364556"/>
            <a:ext cx="969332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CONTEXT &amp; PROBLEM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93979" y="3612683"/>
            <a:ext cx="14100042" cy="3486386"/>
            <a:chOff x="0" y="0"/>
            <a:chExt cx="18800056" cy="464851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8800056" cy="4648515"/>
              <a:chOff x="0" y="0"/>
              <a:chExt cx="15312768" cy="378624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25318" y="19486"/>
                <a:ext cx="15061721" cy="3747209"/>
              </a:xfrm>
              <a:custGeom>
                <a:avLst/>
                <a:gdLst/>
                <a:ahLst/>
                <a:cxnLst/>
                <a:rect r="r" b="b" t="t" l="l"/>
                <a:pathLst>
                  <a:path h="3747209" w="15061721">
                    <a:moveTo>
                      <a:pt x="0" y="0"/>
                    </a:moveTo>
                    <a:lnTo>
                      <a:pt x="15061721" y="0"/>
                    </a:lnTo>
                    <a:lnTo>
                      <a:pt x="15061721" y="3747210"/>
                    </a:lnTo>
                    <a:lnTo>
                      <a:pt x="0" y="374721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5312357" cy="3786182"/>
              </a:xfrm>
              <a:custGeom>
                <a:avLst/>
                <a:gdLst/>
                <a:ahLst/>
                <a:cxnLst/>
                <a:rect r="r" b="b" t="t" l="l"/>
                <a:pathLst>
                  <a:path h="3786182" w="15312357">
                    <a:moveTo>
                      <a:pt x="125318" y="0"/>
                    </a:moveTo>
                    <a:lnTo>
                      <a:pt x="15187039" y="0"/>
                    </a:lnTo>
                    <a:cubicBezTo>
                      <a:pt x="15256463" y="0"/>
                      <a:pt x="15312357" y="8783"/>
                      <a:pt x="15312357" y="19486"/>
                    </a:cubicBezTo>
                    <a:lnTo>
                      <a:pt x="15312357" y="3766696"/>
                    </a:lnTo>
                    <a:cubicBezTo>
                      <a:pt x="15312357" y="3777491"/>
                      <a:pt x="15255873" y="3786182"/>
                      <a:pt x="15187039" y="3786182"/>
                    </a:cubicBezTo>
                    <a:lnTo>
                      <a:pt x="125318" y="3786182"/>
                    </a:lnTo>
                    <a:cubicBezTo>
                      <a:pt x="55893" y="3786182"/>
                      <a:pt x="0" y="3777399"/>
                      <a:pt x="0" y="3766696"/>
                    </a:cubicBezTo>
                    <a:lnTo>
                      <a:pt x="0" y="19486"/>
                    </a:lnTo>
                    <a:cubicBezTo>
                      <a:pt x="0" y="8783"/>
                      <a:pt x="56481" y="0"/>
                      <a:pt x="125318" y="0"/>
                    </a:cubicBezTo>
                    <a:moveTo>
                      <a:pt x="125318" y="39064"/>
                    </a:moveTo>
                    <a:lnTo>
                      <a:pt x="125318" y="19486"/>
                    </a:lnTo>
                    <a:lnTo>
                      <a:pt x="251225" y="19486"/>
                    </a:lnTo>
                    <a:lnTo>
                      <a:pt x="251225" y="3766696"/>
                    </a:lnTo>
                    <a:lnTo>
                      <a:pt x="125318" y="3766696"/>
                    </a:lnTo>
                    <a:lnTo>
                      <a:pt x="125318" y="3747209"/>
                    </a:lnTo>
                    <a:lnTo>
                      <a:pt x="15187039" y="3747209"/>
                    </a:lnTo>
                    <a:lnTo>
                      <a:pt x="15187039" y="3766696"/>
                    </a:lnTo>
                    <a:lnTo>
                      <a:pt x="15061719" y="3766696"/>
                    </a:lnTo>
                    <a:lnTo>
                      <a:pt x="15061719" y="19486"/>
                    </a:lnTo>
                    <a:lnTo>
                      <a:pt x="15187039" y="19486"/>
                    </a:lnTo>
                    <a:lnTo>
                      <a:pt x="15187039" y="39064"/>
                    </a:lnTo>
                    <a:lnTo>
                      <a:pt x="125318" y="39064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21452" y="857556"/>
              <a:ext cx="17157153" cy="2838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71550" indent="-485775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of an IT store</a:t>
              </a:r>
            </a:p>
            <a:p>
              <a:pPr algn="l" marL="971550" indent="-485775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Complex and inefficient manual management</a:t>
              </a:r>
            </a:p>
            <a:p>
              <a:pPr algn="l" marL="971550" indent="-485775" lvl="1">
                <a:lnSpc>
                  <a:spcPts val="5400"/>
                </a:lnSpc>
                <a:buFont typeface="Arial"/>
                <a:buChar char="•"/>
              </a:pPr>
              <a:r>
                <a:rPr lang="en-US" sz="45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Categories: Computers, Smartphones, Tablets, etc.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8594" y="6281289"/>
            <a:ext cx="13910812" cy="67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2"/>
              </a:lnSpc>
            </a:pPr>
            <a:r>
              <a:rPr lang="en-US" sz="4884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A complete and intuitive web application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3141" y="2994250"/>
            <a:ext cx="11281719" cy="3432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00"/>
              </a:lnSpc>
            </a:pPr>
            <a:r>
              <a:rPr lang="en-US" b="true" sz="129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OUR SOLUTION</a:t>
            </a:r>
          </a:p>
        </p:txBody>
      </p:sp>
    </p:spTree>
  </p:cSld>
  <p:clrMapOvr>
    <a:masterClrMapping/>
  </p:clrMapOvr>
  <p:transition spd="fast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936056"/>
            <a:ext cx="969332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MAIN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04758" y="4213038"/>
            <a:ext cx="2651553" cy="1264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53"/>
              </a:lnSpc>
            </a:pPr>
            <a:r>
              <a:rPr lang="en-US" sz="812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📦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49923" y="5701805"/>
            <a:ext cx="2961223" cy="116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3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49923" y="7104846"/>
            <a:ext cx="2961223" cy="224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304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Manage quantities in real-time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685674" y="2730722"/>
            <a:ext cx="4032903" cy="6412974"/>
            <a:chOff x="0" y="0"/>
            <a:chExt cx="5377204" cy="855063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377204" cy="8550632"/>
              <a:chOff x="0" y="0"/>
              <a:chExt cx="3305391" cy="525611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877093" y="606474"/>
              <a:ext cx="3622997" cy="1665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95"/>
                </a:lnSpc>
              </a:pPr>
              <a:r>
                <a:rPr lang="en-US" sz="832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📂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65531" y="2605780"/>
              <a:ext cx="4046120" cy="1570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97"/>
                </a:lnSpc>
              </a:pPr>
              <a:r>
                <a:rPr lang="en-US" sz="4164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Management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65531" y="4519362"/>
              <a:ext cx="4046120" cy="3041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8"/>
                </a:lnSpc>
              </a:pPr>
              <a:r>
                <a:rPr lang="en-US" sz="3123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Smart menu with add/delete operations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98680" y="2730722"/>
            <a:ext cx="4032903" cy="6412974"/>
            <a:chOff x="0" y="0"/>
            <a:chExt cx="5377204" cy="855063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932786" y="1975360"/>
              <a:ext cx="3535403" cy="1629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753"/>
                </a:lnSpc>
              </a:pPr>
              <a:r>
                <a:rPr lang="en-US" sz="812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🛍️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726339" y="3928632"/>
              <a:ext cx="3948297" cy="15342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76"/>
                </a:lnSpc>
              </a:pPr>
              <a:r>
                <a:rPr lang="en-US" sz="4063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26339" y="5796179"/>
              <a:ext cx="3948297" cy="1276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7"/>
                </a:lnSpc>
              </a:pPr>
              <a:r>
                <a:rPr lang="en-US" sz="3047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Add, edit, view products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0"/>
              <a:ext cx="5377204" cy="8550632"/>
              <a:chOff x="0" y="0"/>
              <a:chExt cx="3305391" cy="525611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9B59B6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877093" y="606474"/>
              <a:ext cx="3622997" cy="1665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95"/>
                </a:lnSpc>
              </a:pPr>
              <a:r>
                <a:rPr lang="en-US" sz="832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🛍️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665531" y="2605780"/>
              <a:ext cx="4046120" cy="1570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97"/>
                </a:lnSpc>
              </a:pPr>
              <a:r>
                <a:rPr lang="en-US" sz="4164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Management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665531" y="4519362"/>
              <a:ext cx="4046120" cy="3041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48"/>
                </a:lnSpc>
              </a:pPr>
              <a:r>
                <a:rPr lang="en-US" sz="3123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CRUD + reference validation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512583" y="2774381"/>
            <a:ext cx="4032903" cy="6412974"/>
            <a:chOff x="0" y="0"/>
            <a:chExt cx="3305391" cy="52561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7051" y="27051"/>
              <a:ext cx="3251200" cy="5201920"/>
            </a:xfrm>
            <a:custGeom>
              <a:avLst/>
              <a:gdLst/>
              <a:ahLst/>
              <a:cxnLst/>
              <a:rect r="r" b="b" t="t" l="l"/>
              <a:pathLst>
                <a:path h="520192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5201920"/>
                  </a:lnTo>
                  <a:lnTo>
                    <a:pt x="0" y="5201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05302" cy="5256022"/>
            </a:xfrm>
            <a:custGeom>
              <a:avLst/>
              <a:gdLst/>
              <a:ahLst/>
              <a:cxnLst/>
              <a:rect r="r" b="b" t="t" l="l"/>
              <a:pathLst>
                <a:path h="5256022" w="3305302">
                  <a:moveTo>
                    <a:pt x="27051" y="0"/>
                  </a:moveTo>
                  <a:lnTo>
                    <a:pt x="3278251" y="0"/>
                  </a:lnTo>
                  <a:cubicBezTo>
                    <a:pt x="3293237" y="0"/>
                    <a:pt x="3305302" y="12192"/>
                    <a:pt x="3305302" y="27051"/>
                  </a:cubicBezTo>
                  <a:lnTo>
                    <a:pt x="3305302" y="5228971"/>
                  </a:lnTo>
                  <a:cubicBezTo>
                    <a:pt x="3305302" y="5243957"/>
                    <a:pt x="3293110" y="5256022"/>
                    <a:pt x="3278251" y="5256022"/>
                  </a:cubicBezTo>
                  <a:lnTo>
                    <a:pt x="27051" y="5256022"/>
                  </a:lnTo>
                  <a:cubicBezTo>
                    <a:pt x="12065" y="5256022"/>
                    <a:pt x="0" y="5243830"/>
                    <a:pt x="0" y="5228971"/>
                  </a:cubicBezTo>
                  <a:lnTo>
                    <a:pt x="0" y="27051"/>
                  </a:lnTo>
                  <a:cubicBezTo>
                    <a:pt x="0" y="12192"/>
                    <a:pt x="12192" y="0"/>
                    <a:pt x="27051" y="0"/>
                  </a:cubicBezTo>
                  <a:moveTo>
                    <a:pt x="27051" y="54229"/>
                  </a:moveTo>
                  <a:lnTo>
                    <a:pt x="27051" y="27051"/>
                  </a:lnTo>
                  <a:lnTo>
                    <a:pt x="54229" y="27051"/>
                  </a:lnTo>
                  <a:lnTo>
                    <a:pt x="54229" y="5228971"/>
                  </a:lnTo>
                  <a:lnTo>
                    <a:pt x="27051" y="5228971"/>
                  </a:lnTo>
                  <a:lnTo>
                    <a:pt x="27051" y="5201920"/>
                  </a:lnTo>
                  <a:lnTo>
                    <a:pt x="3278251" y="5201920"/>
                  </a:lnTo>
                  <a:lnTo>
                    <a:pt x="3278251" y="5228971"/>
                  </a:lnTo>
                  <a:lnTo>
                    <a:pt x="3251200" y="5228971"/>
                  </a:lnTo>
                  <a:lnTo>
                    <a:pt x="3251200" y="27051"/>
                  </a:lnTo>
                  <a:lnTo>
                    <a:pt x="3278251" y="27051"/>
                  </a:lnTo>
                  <a:lnTo>
                    <a:pt x="3278251" y="54229"/>
                  </a:lnTo>
                  <a:lnTo>
                    <a:pt x="27051" y="5422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170403" y="3186374"/>
            <a:ext cx="2717247" cy="129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5"/>
              </a:lnSpc>
            </a:pPr>
            <a:r>
              <a:rPr lang="en-US" sz="83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📦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11731" y="4709666"/>
            <a:ext cx="3034590" cy="1196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7"/>
              </a:lnSpc>
            </a:pPr>
            <a:r>
              <a:rPr lang="en-US" sz="4164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Stock Management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11731" y="6147233"/>
            <a:ext cx="3034590" cy="229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8"/>
              </a:lnSpc>
            </a:pPr>
            <a:r>
              <a:rPr lang="en-US" sz="312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updates with no negatives</a:t>
            </a:r>
          </a:p>
        </p:txBody>
      </p:sp>
    </p:spTree>
  </p:cSld>
  <p:clrMapOvr>
    <a:masterClrMapping/>
  </p:clrMapOvr>
  <p:transition spd="fast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30570" y="7711798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51620" y="1621856"/>
            <a:ext cx="998476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FEATURE DETAILS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25523" y="3548751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67620" y="3548751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Add/Edit/Delete categories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25523" y="4253940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67620" y="4253940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Add/Edit/Delete products (unique ref)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5523" y="4964131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67620" y="4964131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Manage inventory quantities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25523" y="5669320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67620" y="5669320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Search by designation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25523" y="6379512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5.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067620" y="6379512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Sort by price or brand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25523" y="7084701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6.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67620" y="7084701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Data validation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25523" y="7794893"/>
            <a:ext cx="896881" cy="568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21"/>
              </a:lnSpc>
            </a:pPr>
            <a:r>
              <a:rPr lang="en-US" sz="405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7.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67620" y="7794893"/>
            <a:ext cx="8994857" cy="48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8"/>
              </a:lnSpc>
            </a:pPr>
            <a:r>
              <a:rPr lang="en-US" sz="3466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Robust error handling</a:t>
            </a:r>
          </a:p>
        </p:txBody>
      </p:sp>
    </p:spTree>
  </p:cSld>
  <p:clrMapOvr>
    <a:masterClrMapping/>
  </p:clrMapOvr>
  <p:transition spd="fast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8594" y="5628138"/>
            <a:ext cx="13910812" cy="67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2"/>
              </a:lnSpc>
            </a:pPr>
            <a:r>
              <a:rPr lang="en-US" sz="4884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Three layers: Frontend • Backend • 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3141" y="3862897"/>
            <a:ext cx="11281719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0"/>
              </a:lnSpc>
            </a:pPr>
            <a:r>
              <a:rPr lang="en-US" b="true" sz="12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ARCHITECTURE</a:t>
            </a:r>
          </a:p>
        </p:txBody>
      </p:sp>
    </p:spTree>
  </p:cSld>
  <p:clrMapOvr>
    <a:masterClrMapping/>
  </p:clrMapOvr>
  <p:transition spd="fast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936056"/>
            <a:ext cx="969332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MAIN FEATURES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03160" y="2803613"/>
            <a:ext cx="4014520" cy="6383741"/>
            <a:chOff x="0" y="0"/>
            <a:chExt cx="5352693" cy="851165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352693" cy="8511655"/>
              <a:chOff x="0" y="0"/>
              <a:chExt cx="3305391" cy="525611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27051" y="27051"/>
                <a:ext cx="3251200" cy="5201920"/>
              </a:xfrm>
              <a:custGeom>
                <a:avLst/>
                <a:gdLst/>
                <a:ahLst/>
                <a:cxnLst/>
                <a:rect r="r" b="b" t="t" l="l"/>
                <a:pathLst>
                  <a:path h="5201920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0"/>
                    </a:lnTo>
                    <a:lnTo>
                      <a:pt x="0" y="5201920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305302" cy="5256022"/>
              </a:xfrm>
              <a:custGeom>
                <a:avLst/>
                <a:gdLst/>
                <a:ahLst/>
                <a:cxnLst/>
                <a:rect r="r" b="b" t="t" l="l"/>
                <a:pathLst>
                  <a:path h="5256022" w="3305302">
                    <a:moveTo>
                      <a:pt x="27051" y="0"/>
                    </a:moveTo>
                    <a:lnTo>
                      <a:pt x="3278251" y="0"/>
                    </a:lnTo>
                    <a:cubicBezTo>
                      <a:pt x="3293237" y="0"/>
                      <a:pt x="3305302" y="12192"/>
                      <a:pt x="3305302" y="27051"/>
                    </a:cubicBezTo>
                    <a:lnTo>
                      <a:pt x="3305302" y="5228971"/>
                    </a:lnTo>
                    <a:cubicBezTo>
                      <a:pt x="3305302" y="5243957"/>
                      <a:pt x="3293110" y="5256022"/>
                      <a:pt x="3278251" y="5256022"/>
                    </a:cubicBezTo>
                    <a:lnTo>
                      <a:pt x="27051" y="5256022"/>
                    </a:lnTo>
                    <a:cubicBezTo>
                      <a:pt x="12065" y="5256022"/>
                      <a:pt x="0" y="5243830"/>
                      <a:pt x="0" y="5228971"/>
                    </a:cubicBezTo>
                    <a:lnTo>
                      <a:pt x="0" y="27051"/>
                    </a:lnTo>
                    <a:cubicBezTo>
                      <a:pt x="0" y="12192"/>
                      <a:pt x="12192" y="0"/>
                      <a:pt x="27051" y="0"/>
                    </a:cubicBezTo>
                    <a:moveTo>
                      <a:pt x="27051" y="54229"/>
                    </a:moveTo>
                    <a:lnTo>
                      <a:pt x="27051" y="27051"/>
                    </a:lnTo>
                    <a:lnTo>
                      <a:pt x="54229" y="27051"/>
                    </a:lnTo>
                    <a:lnTo>
                      <a:pt x="54229" y="5228971"/>
                    </a:lnTo>
                    <a:lnTo>
                      <a:pt x="27051" y="5228971"/>
                    </a:lnTo>
                    <a:lnTo>
                      <a:pt x="27051" y="5201920"/>
                    </a:lnTo>
                    <a:lnTo>
                      <a:pt x="3278251" y="5201920"/>
                    </a:lnTo>
                    <a:lnTo>
                      <a:pt x="3278251" y="5228971"/>
                    </a:lnTo>
                    <a:lnTo>
                      <a:pt x="3251200" y="5228971"/>
                    </a:lnTo>
                    <a:lnTo>
                      <a:pt x="3251200" y="27051"/>
                    </a:lnTo>
                    <a:lnTo>
                      <a:pt x="3278251" y="27051"/>
                    </a:lnTo>
                    <a:lnTo>
                      <a:pt x="3278251" y="54229"/>
                    </a:lnTo>
                    <a:lnTo>
                      <a:pt x="27051" y="54229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873095" y="602928"/>
              <a:ext cx="3606482" cy="1658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949"/>
                </a:lnSpc>
              </a:pPr>
              <a:r>
                <a:rPr lang="en-US" sz="829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🎨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62498" y="2593555"/>
              <a:ext cx="4027677" cy="156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74"/>
                </a:lnSpc>
              </a:pPr>
              <a:r>
                <a:rPr lang="en-US" sz="4145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62498" y="4498457"/>
              <a:ext cx="4027677" cy="302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31"/>
                </a:lnSpc>
              </a:pPr>
              <a:r>
                <a:rPr lang="en-US" sz="3109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HTML/CSS</a:t>
              </a:r>
            </a:p>
            <a:p>
              <a:pPr algn="ctr">
                <a:lnSpc>
                  <a:spcPts val="3731"/>
                </a:lnSpc>
              </a:pPr>
              <a:r>
                <a:rPr lang="en-US" sz="3109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Interface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49993" y="2803613"/>
            <a:ext cx="4014520" cy="6383741"/>
            <a:chOff x="0" y="0"/>
            <a:chExt cx="3305391" cy="5256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7051" y="27051"/>
              <a:ext cx="3251200" cy="5201920"/>
            </a:xfrm>
            <a:custGeom>
              <a:avLst/>
              <a:gdLst/>
              <a:ahLst/>
              <a:cxnLst/>
              <a:rect r="r" b="b" t="t" l="l"/>
              <a:pathLst>
                <a:path h="520192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5201920"/>
                  </a:lnTo>
                  <a:lnTo>
                    <a:pt x="0" y="5201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05302" cy="5256022"/>
            </a:xfrm>
            <a:custGeom>
              <a:avLst/>
              <a:gdLst/>
              <a:ahLst/>
              <a:cxnLst/>
              <a:rect r="r" b="b" t="t" l="l"/>
              <a:pathLst>
                <a:path h="5256022" w="3305302">
                  <a:moveTo>
                    <a:pt x="27051" y="0"/>
                  </a:moveTo>
                  <a:lnTo>
                    <a:pt x="3278251" y="0"/>
                  </a:lnTo>
                  <a:cubicBezTo>
                    <a:pt x="3293237" y="0"/>
                    <a:pt x="3305302" y="12192"/>
                    <a:pt x="3305302" y="27051"/>
                  </a:cubicBezTo>
                  <a:lnTo>
                    <a:pt x="3305302" y="5228971"/>
                  </a:lnTo>
                  <a:cubicBezTo>
                    <a:pt x="3305302" y="5243957"/>
                    <a:pt x="3293110" y="5256022"/>
                    <a:pt x="3278251" y="5256022"/>
                  </a:cubicBezTo>
                  <a:lnTo>
                    <a:pt x="27051" y="5256022"/>
                  </a:lnTo>
                  <a:cubicBezTo>
                    <a:pt x="12065" y="5256022"/>
                    <a:pt x="0" y="5243830"/>
                    <a:pt x="0" y="5228971"/>
                  </a:cubicBezTo>
                  <a:lnTo>
                    <a:pt x="0" y="27051"/>
                  </a:lnTo>
                  <a:cubicBezTo>
                    <a:pt x="0" y="12192"/>
                    <a:pt x="12192" y="0"/>
                    <a:pt x="27051" y="0"/>
                  </a:cubicBezTo>
                  <a:moveTo>
                    <a:pt x="27051" y="54229"/>
                  </a:moveTo>
                  <a:lnTo>
                    <a:pt x="27051" y="27051"/>
                  </a:lnTo>
                  <a:lnTo>
                    <a:pt x="54229" y="27051"/>
                  </a:lnTo>
                  <a:lnTo>
                    <a:pt x="54229" y="5228971"/>
                  </a:lnTo>
                  <a:lnTo>
                    <a:pt x="27051" y="5228971"/>
                  </a:lnTo>
                  <a:lnTo>
                    <a:pt x="27051" y="5201920"/>
                  </a:lnTo>
                  <a:lnTo>
                    <a:pt x="3278251" y="5201920"/>
                  </a:lnTo>
                  <a:lnTo>
                    <a:pt x="3278251" y="5228971"/>
                  </a:lnTo>
                  <a:lnTo>
                    <a:pt x="3251200" y="5228971"/>
                  </a:lnTo>
                  <a:lnTo>
                    <a:pt x="3251200" y="27051"/>
                  </a:lnTo>
                  <a:lnTo>
                    <a:pt x="3278251" y="27051"/>
                  </a:lnTo>
                  <a:lnTo>
                    <a:pt x="3278251" y="54229"/>
                  </a:lnTo>
                  <a:lnTo>
                    <a:pt x="27051" y="54229"/>
                  </a:lnTo>
                  <a:close/>
                </a:path>
              </a:pathLst>
            </a:custGeom>
            <a:solidFill>
              <a:srgbClr val="9B59B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7704814" y="3212946"/>
            <a:ext cx="2704861" cy="128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9"/>
              </a:lnSpc>
            </a:pPr>
            <a:r>
              <a:rPr lang="en-US" sz="82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⚙️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546866" y="4729729"/>
            <a:ext cx="3020758" cy="119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</a:pPr>
            <a:r>
              <a:rPr lang="en-US" sz="4145" b="true">
                <a:solidFill>
                  <a:srgbClr val="9B59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46866" y="6160787"/>
            <a:ext cx="3020758" cy="228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1"/>
              </a:lnSpc>
            </a:pPr>
            <a:r>
              <a:rPr lang="en-US" sz="3109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PHP</a:t>
            </a:r>
          </a:p>
          <a:p>
            <a:pPr algn="ctr">
              <a:lnSpc>
                <a:spcPts val="3731"/>
              </a:lnSpc>
            </a:pPr>
            <a:r>
              <a:rPr lang="en-US" sz="3109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Business Logic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472540" y="2803613"/>
            <a:ext cx="4014520" cy="6383741"/>
            <a:chOff x="0" y="0"/>
            <a:chExt cx="3305391" cy="5256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7051" y="27051"/>
              <a:ext cx="3251200" cy="5201920"/>
            </a:xfrm>
            <a:custGeom>
              <a:avLst/>
              <a:gdLst/>
              <a:ahLst/>
              <a:cxnLst/>
              <a:rect r="r" b="b" t="t" l="l"/>
              <a:pathLst>
                <a:path h="5201920" w="3251200">
                  <a:moveTo>
                    <a:pt x="0" y="0"/>
                  </a:moveTo>
                  <a:lnTo>
                    <a:pt x="3251200" y="0"/>
                  </a:lnTo>
                  <a:lnTo>
                    <a:pt x="3251200" y="5201920"/>
                  </a:lnTo>
                  <a:lnTo>
                    <a:pt x="0" y="5201920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05302" cy="5256022"/>
            </a:xfrm>
            <a:custGeom>
              <a:avLst/>
              <a:gdLst/>
              <a:ahLst/>
              <a:cxnLst/>
              <a:rect r="r" b="b" t="t" l="l"/>
              <a:pathLst>
                <a:path h="5256022" w="3305302">
                  <a:moveTo>
                    <a:pt x="27051" y="0"/>
                  </a:moveTo>
                  <a:lnTo>
                    <a:pt x="3278251" y="0"/>
                  </a:lnTo>
                  <a:cubicBezTo>
                    <a:pt x="3293237" y="0"/>
                    <a:pt x="3305302" y="12192"/>
                    <a:pt x="3305302" y="27051"/>
                  </a:cubicBezTo>
                  <a:lnTo>
                    <a:pt x="3305302" y="5228971"/>
                  </a:lnTo>
                  <a:cubicBezTo>
                    <a:pt x="3305302" y="5243957"/>
                    <a:pt x="3293110" y="5256022"/>
                    <a:pt x="3278251" y="5256022"/>
                  </a:cubicBezTo>
                  <a:lnTo>
                    <a:pt x="27051" y="5256022"/>
                  </a:lnTo>
                  <a:cubicBezTo>
                    <a:pt x="12065" y="5256022"/>
                    <a:pt x="0" y="5243830"/>
                    <a:pt x="0" y="5228971"/>
                  </a:cubicBezTo>
                  <a:lnTo>
                    <a:pt x="0" y="27051"/>
                  </a:lnTo>
                  <a:cubicBezTo>
                    <a:pt x="0" y="12192"/>
                    <a:pt x="12192" y="0"/>
                    <a:pt x="27051" y="0"/>
                  </a:cubicBezTo>
                  <a:moveTo>
                    <a:pt x="27051" y="54229"/>
                  </a:moveTo>
                  <a:lnTo>
                    <a:pt x="27051" y="27051"/>
                  </a:lnTo>
                  <a:lnTo>
                    <a:pt x="54229" y="27051"/>
                  </a:lnTo>
                  <a:lnTo>
                    <a:pt x="54229" y="5228971"/>
                  </a:lnTo>
                  <a:lnTo>
                    <a:pt x="27051" y="5228971"/>
                  </a:lnTo>
                  <a:lnTo>
                    <a:pt x="27051" y="5201920"/>
                  </a:lnTo>
                  <a:lnTo>
                    <a:pt x="3278251" y="5201920"/>
                  </a:lnTo>
                  <a:lnTo>
                    <a:pt x="3278251" y="5228971"/>
                  </a:lnTo>
                  <a:lnTo>
                    <a:pt x="3251200" y="5228971"/>
                  </a:lnTo>
                  <a:lnTo>
                    <a:pt x="3251200" y="27051"/>
                  </a:lnTo>
                  <a:lnTo>
                    <a:pt x="3278251" y="27051"/>
                  </a:lnTo>
                  <a:lnTo>
                    <a:pt x="3278251" y="54229"/>
                  </a:lnTo>
                  <a:lnTo>
                    <a:pt x="27051" y="54229"/>
                  </a:lnTo>
                  <a:close/>
                </a:path>
              </a:pathLst>
            </a:custGeom>
            <a:solidFill>
              <a:srgbClr val="2ECC71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127361" y="3212946"/>
            <a:ext cx="2704861" cy="128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9"/>
              </a:lnSpc>
            </a:pPr>
            <a:r>
              <a:rPr lang="en-US" sz="829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💾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69413" y="4729729"/>
            <a:ext cx="3020758" cy="1191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4"/>
              </a:lnSpc>
            </a:pPr>
            <a:r>
              <a:rPr lang="en-US" sz="4145" b="true">
                <a:solidFill>
                  <a:srgbClr val="2ECC7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69413" y="6160787"/>
            <a:ext cx="3020758" cy="228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1"/>
              </a:lnSpc>
            </a:pPr>
            <a:r>
              <a:rPr lang="en-US" sz="3109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MySQL</a:t>
            </a:r>
          </a:p>
          <a:p>
            <a:pPr algn="ctr">
              <a:lnSpc>
                <a:spcPts val="3731"/>
              </a:lnSpc>
            </a:pPr>
            <a:r>
              <a:rPr lang="en-US" sz="3109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Persistent Storage</a:t>
            </a:r>
          </a:p>
        </p:txBody>
      </p:sp>
    </p:spTree>
  </p:cSld>
  <p:clrMapOvr>
    <a:masterClrMapping/>
  </p:clrMapOvr>
  <p:transition spd="fast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50500" y="4708303"/>
            <a:ext cx="11019892" cy="293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3"/>
              </a:lnSpc>
              <a:spcBef>
                <a:spcPct val="0"/>
              </a:spcBef>
            </a:pPr>
            <a:r>
              <a:rPr lang="en-US" sz="4660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4660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table: Authentication + admin</a:t>
            </a:r>
          </a:p>
          <a:p>
            <a:pPr algn="l" marL="0" indent="0" lvl="0">
              <a:lnSpc>
                <a:spcPts val="5593"/>
              </a:lnSpc>
              <a:spcBef>
                <a:spcPct val="0"/>
              </a:spcBef>
            </a:pPr>
            <a:r>
              <a:rPr lang="en-US" sz="4660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4660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Categories table: Category management</a:t>
            </a:r>
          </a:p>
          <a:p>
            <a:pPr algn="l" marL="0" indent="0" lvl="0">
              <a:lnSpc>
                <a:spcPts val="5593"/>
              </a:lnSpc>
              <a:spcBef>
                <a:spcPct val="0"/>
              </a:spcBef>
            </a:pPr>
            <a:r>
              <a:rPr lang="en-US" sz="4660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4660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Products table: Products with category FK</a:t>
            </a:r>
          </a:p>
          <a:p>
            <a:pPr algn="l" marL="0" indent="0" lvl="0">
              <a:lnSpc>
                <a:spcPts val="559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723200" y="2255172"/>
            <a:ext cx="10841601" cy="1426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36"/>
              </a:lnSpc>
            </a:pPr>
            <a:r>
              <a:rPr lang="en-US" b="true" sz="10236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DATA MODEL</a:t>
            </a:r>
          </a:p>
        </p:txBody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8594" y="5994359"/>
            <a:ext cx="13910812" cy="67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2"/>
              </a:lnSpc>
            </a:pPr>
            <a:r>
              <a:rPr lang="en-US" sz="4884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Modern and robust tech stack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03141" y="3100897"/>
            <a:ext cx="11281719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0"/>
              </a:lnSpc>
            </a:pPr>
            <a:r>
              <a:rPr lang="en-US" b="true" sz="12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TECHNOLOGIES USED</a:t>
            </a:r>
          </a:p>
        </p:txBody>
      </p:sp>
    </p:spTree>
  </p:cSld>
  <p:clrMapOvr>
    <a:masterClrMapping/>
  </p:clrMapOvr>
  <p:transition spd="fast">
    <p:cover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8397515"/>
            <a:ext cx="3828478" cy="3946885"/>
          </a:xfrm>
          <a:custGeom>
            <a:avLst/>
            <a:gdLst/>
            <a:ahLst/>
            <a:cxnLst/>
            <a:rect r="r" b="b" t="t" l="l"/>
            <a:pathLst>
              <a:path h="3946885" w="3828478">
                <a:moveTo>
                  <a:pt x="0" y="0"/>
                </a:moveTo>
                <a:lnTo>
                  <a:pt x="3828478" y="0"/>
                </a:lnTo>
                <a:lnTo>
                  <a:pt x="3828478" y="3946885"/>
                </a:lnTo>
                <a:lnTo>
                  <a:pt x="0" y="3946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364556"/>
            <a:ext cx="969332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TECHNOLOGY STACK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398192" y="3319667"/>
            <a:ext cx="13491616" cy="5421061"/>
            <a:chOff x="0" y="0"/>
            <a:chExt cx="17988822" cy="72280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356849" y="0"/>
              <a:ext cx="8631973" cy="3246680"/>
              <a:chOff x="0" y="0"/>
              <a:chExt cx="5628183" cy="211688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8034" y="18034"/>
                <a:ext cx="5592064" cy="2080768"/>
              </a:xfrm>
              <a:custGeom>
                <a:avLst/>
                <a:gdLst/>
                <a:ahLst/>
                <a:cxnLst/>
                <a:rect r="r" b="b" t="t" l="l"/>
                <a:pathLst>
                  <a:path h="2080768" w="5592064">
                    <a:moveTo>
                      <a:pt x="0" y="0"/>
                    </a:moveTo>
                    <a:lnTo>
                      <a:pt x="5592064" y="0"/>
                    </a:lnTo>
                    <a:lnTo>
                      <a:pt x="5592064" y="2080768"/>
                    </a:lnTo>
                    <a:lnTo>
                      <a:pt x="0" y="2080768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628132" cy="2116836"/>
              </a:xfrm>
              <a:custGeom>
                <a:avLst/>
                <a:gdLst/>
                <a:ahLst/>
                <a:cxnLst/>
                <a:rect r="r" b="b" t="t" l="l"/>
                <a:pathLst>
                  <a:path h="2116836" w="5628132">
                    <a:moveTo>
                      <a:pt x="18034" y="0"/>
                    </a:moveTo>
                    <a:lnTo>
                      <a:pt x="5610098" y="0"/>
                    </a:lnTo>
                    <a:cubicBezTo>
                      <a:pt x="5620131" y="0"/>
                      <a:pt x="5628132" y="8128"/>
                      <a:pt x="5628132" y="18034"/>
                    </a:cubicBezTo>
                    <a:lnTo>
                      <a:pt x="5628132" y="2098802"/>
                    </a:lnTo>
                    <a:cubicBezTo>
                      <a:pt x="5628132" y="2108835"/>
                      <a:pt x="5620004" y="2116836"/>
                      <a:pt x="5610098" y="2116836"/>
                    </a:cubicBezTo>
                    <a:lnTo>
                      <a:pt x="18034" y="2116836"/>
                    </a:lnTo>
                    <a:cubicBezTo>
                      <a:pt x="8001" y="2116836"/>
                      <a:pt x="0" y="2108708"/>
                      <a:pt x="0" y="2098802"/>
                    </a:cubicBezTo>
                    <a:lnTo>
                      <a:pt x="0" y="18034"/>
                    </a:lnTo>
                    <a:cubicBezTo>
                      <a:pt x="0" y="8128"/>
                      <a:pt x="8128" y="0"/>
                      <a:pt x="18034" y="0"/>
                    </a:cubicBezTo>
                    <a:moveTo>
                      <a:pt x="18034" y="36068"/>
                    </a:moveTo>
                    <a:lnTo>
                      <a:pt x="18034" y="18034"/>
                    </a:lnTo>
                    <a:lnTo>
                      <a:pt x="36068" y="18034"/>
                    </a:lnTo>
                    <a:lnTo>
                      <a:pt x="36068" y="2098802"/>
                    </a:lnTo>
                    <a:lnTo>
                      <a:pt x="18034" y="2098802"/>
                    </a:lnTo>
                    <a:lnTo>
                      <a:pt x="18034" y="2080768"/>
                    </a:lnTo>
                    <a:lnTo>
                      <a:pt x="5610098" y="2080768"/>
                    </a:lnTo>
                    <a:lnTo>
                      <a:pt x="5610098" y="2098802"/>
                    </a:lnTo>
                    <a:lnTo>
                      <a:pt x="5592064" y="2098802"/>
                    </a:lnTo>
                    <a:lnTo>
                      <a:pt x="5592064" y="18034"/>
                    </a:lnTo>
                    <a:lnTo>
                      <a:pt x="5610098" y="18034"/>
                    </a:lnTo>
                    <a:lnTo>
                      <a:pt x="5610098" y="36068"/>
                    </a:lnTo>
                    <a:lnTo>
                      <a:pt x="18034" y="36068"/>
                    </a:lnTo>
                    <a:close/>
                  </a:path>
                </a:pathLst>
              </a:custGeom>
              <a:solidFill>
                <a:srgbClr val="9B59B6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9970446" y="234923"/>
              <a:ext cx="7604233" cy="896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11"/>
                </a:lnSpc>
              </a:pPr>
              <a:r>
                <a:rPr lang="en-US" sz="3926" b="true">
                  <a:solidFill>
                    <a:srgbClr val="9B59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⚙️ Backend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970446" y="1260774"/>
              <a:ext cx="7604233" cy="1665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3"/>
                </a:lnSpc>
              </a:pPr>
              <a:r>
                <a:rPr lang="en-US" sz="2944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PHP 7+ • MySQLi • PDO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0"/>
              <a:ext cx="8631973" cy="3246680"/>
              <a:chOff x="0" y="0"/>
              <a:chExt cx="5628183" cy="211688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18034" y="18034"/>
                <a:ext cx="5592064" cy="2080768"/>
              </a:xfrm>
              <a:custGeom>
                <a:avLst/>
                <a:gdLst/>
                <a:ahLst/>
                <a:cxnLst/>
                <a:rect r="r" b="b" t="t" l="l"/>
                <a:pathLst>
                  <a:path h="2080768" w="5592064">
                    <a:moveTo>
                      <a:pt x="0" y="0"/>
                    </a:moveTo>
                    <a:lnTo>
                      <a:pt x="5592064" y="0"/>
                    </a:lnTo>
                    <a:lnTo>
                      <a:pt x="5592064" y="2080768"/>
                    </a:lnTo>
                    <a:lnTo>
                      <a:pt x="0" y="2080768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628132" cy="2116836"/>
              </a:xfrm>
              <a:custGeom>
                <a:avLst/>
                <a:gdLst/>
                <a:ahLst/>
                <a:cxnLst/>
                <a:rect r="r" b="b" t="t" l="l"/>
                <a:pathLst>
                  <a:path h="2116836" w="5628132">
                    <a:moveTo>
                      <a:pt x="18034" y="0"/>
                    </a:moveTo>
                    <a:lnTo>
                      <a:pt x="5610098" y="0"/>
                    </a:lnTo>
                    <a:cubicBezTo>
                      <a:pt x="5620131" y="0"/>
                      <a:pt x="5628132" y="8128"/>
                      <a:pt x="5628132" y="18034"/>
                    </a:cubicBezTo>
                    <a:lnTo>
                      <a:pt x="5628132" y="2098802"/>
                    </a:lnTo>
                    <a:cubicBezTo>
                      <a:pt x="5628132" y="2108835"/>
                      <a:pt x="5620004" y="2116836"/>
                      <a:pt x="5610098" y="2116836"/>
                    </a:cubicBezTo>
                    <a:lnTo>
                      <a:pt x="18034" y="2116836"/>
                    </a:lnTo>
                    <a:cubicBezTo>
                      <a:pt x="8001" y="2116836"/>
                      <a:pt x="0" y="2108708"/>
                      <a:pt x="0" y="2098802"/>
                    </a:cubicBezTo>
                    <a:lnTo>
                      <a:pt x="0" y="18034"/>
                    </a:lnTo>
                    <a:cubicBezTo>
                      <a:pt x="0" y="8128"/>
                      <a:pt x="8128" y="0"/>
                      <a:pt x="18034" y="0"/>
                    </a:cubicBezTo>
                    <a:moveTo>
                      <a:pt x="18034" y="36068"/>
                    </a:moveTo>
                    <a:lnTo>
                      <a:pt x="18034" y="18034"/>
                    </a:lnTo>
                    <a:lnTo>
                      <a:pt x="36068" y="18034"/>
                    </a:lnTo>
                    <a:lnTo>
                      <a:pt x="36068" y="2098802"/>
                    </a:lnTo>
                    <a:lnTo>
                      <a:pt x="18034" y="2098802"/>
                    </a:lnTo>
                    <a:lnTo>
                      <a:pt x="18034" y="2080768"/>
                    </a:lnTo>
                    <a:lnTo>
                      <a:pt x="5610098" y="2080768"/>
                    </a:lnTo>
                    <a:lnTo>
                      <a:pt x="5610098" y="2098802"/>
                    </a:lnTo>
                    <a:lnTo>
                      <a:pt x="5592064" y="2098802"/>
                    </a:lnTo>
                    <a:lnTo>
                      <a:pt x="5592064" y="18034"/>
                    </a:lnTo>
                    <a:lnTo>
                      <a:pt x="5610098" y="18034"/>
                    </a:lnTo>
                    <a:lnTo>
                      <a:pt x="5610098" y="36068"/>
                    </a:lnTo>
                    <a:lnTo>
                      <a:pt x="18034" y="36068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613598" y="234923"/>
              <a:ext cx="7604233" cy="896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11"/>
                </a:lnSpc>
              </a:pPr>
              <a:r>
                <a:rPr lang="en-US" sz="3926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🎨 Frontend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13598" y="1260774"/>
              <a:ext cx="7604233" cy="641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3"/>
                </a:lnSpc>
              </a:pPr>
              <a:r>
                <a:rPr lang="en-US" sz="2944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HTML5 • CSS3 • JavaScript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3981402"/>
              <a:ext cx="8631973" cy="3246680"/>
              <a:chOff x="0" y="0"/>
              <a:chExt cx="5628183" cy="211688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18034" y="18034"/>
                <a:ext cx="5592064" cy="2080768"/>
              </a:xfrm>
              <a:custGeom>
                <a:avLst/>
                <a:gdLst/>
                <a:ahLst/>
                <a:cxnLst/>
                <a:rect r="r" b="b" t="t" l="l"/>
                <a:pathLst>
                  <a:path h="2080768" w="5592064">
                    <a:moveTo>
                      <a:pt x="0" y="0"/>
                    </a:moveTo>
                    <a:lnTo>
                      <a:pt x="5592064" y="0"/>
                    </a:lnTo>
                    <a:lnTo>
                      <a:pt x="5592064" y="2080768"/>
                    </a:lnTo>
                    <a:lnTo>
                      <a:pt x="0" y="2080768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628132" cy="2116836"/>
              </a:xfrm>
              <a:custGeom>
                <a:avLst/>
                <a:gdLst/>
                <a:ahLst/>
                <a:cxnLst/>
                <a:rect r="r" b="b" t="t" l="l"/>
                <a:pathLst>
                  <a:path h="2116836" w="5628132">
                    <a:moveTo>
                      <a:pt x="18034" y="0"/>
                    </a:moveTo>
                    <a:lnTo>
                      <a:pt x="5610098" y="0"/>
                    </a:lnTo>
                    <a:cubicBezTo>
                      <a:pt x="5620131" y="0"/>
                      <a:pt x="5628132" y="8128"/>
                      <a:pt x="5628132" y="18034"/>
                    </a:cubicBezTo>
                    <a:lnTo>
                      <a:pt x="5628132" y="2098802"/>
                    </a:lnTo>
                    <a:cubicBezTo>
                      <a:pt x="5628132" y="2108835"/>
                      <a:pt x="5620004" y="2116836"/>
                      <a:pt x="5610098" y="2116836"/>
                    </a:cubicBezTo>
                    <a:lnTo>
                      <a:pt x="18034" y="2116836"/>
                    </a:lnTo>
                    <a:cubicBezTo>
                      <a:pt x="8001" y="2116836"/>
                      <a:pt x="0" y="2108708"/>
                      <a:pt x="0" y="2098802"/>
                    </a:cubicBezTo>
                    <a:lnTo>
                      <a:pt x="0" y="18034"/>
                    </a:lnTo>
                    <a:cubicBezTo>
                      <a:pt x="0" y="8128"/>
                      <a:pt x="8128" y="0"/>
                      <a:pt x="18034" y="0"/>
                    </a:cubicBezTo>
                    <a:moveTo>
                      <a:pt x="18034" y="36068"/>
                    </a:moveTo>
                    <a:lnTo>
                      <a:pt x="18034" y="18034"/>
                    </a:lnTo>
                    <a:lnTo>
                      <a:pt x="36068" y="18034"/>
                    </a:lnTo>
                    <a:lnTo>
                      <a:pt x="36068" y="2098802"/>
                    </a:lnTo>
                    <a:lnTo>
                      <a:pt x="18034" y="2098802"/>
                    </a:lnTo>
                    <a:lnTo>
                      <a:pt x="18034" y="2080768"/>
                    </a:lnTo>
                    <a:lnTo>
                      <a:pt x="5610098" y="2080768"/>
                    </a:lnTo>
                    <a:lnTo>
                      <a:pt x="5610098" y="2098802"/>
                    </a:lnTo>
                    <a:lnTo>
                      <a:pt x="5592064" y="2098802"/>
                    </a:lnTo>
                    <a:lnTo>
                      <a:pt x="5592064" y="18034"/>
                    </a:lnTo>
                    <a:lnTo>
                      <a:pt x="5610098" y="18034"/>
                    </a:lnTo>
                    <a:lnTo>
                      <a:pt x="5610098" y="36068"/>
                    </a:lnTo>
                    <a:lnTo>
                      <a:pt x="18034" y="36068"/>
                    </a:lnTo>
                    <a:close/>
                  </a:path>
                </a:pathLst>
              </a:custGeom>
              <a:solidFill>
                <a:srgbClr val="2ECC71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613598" y="4357885"/>
              <a:ext cx="7604233" cy="896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11"/>
                </a:lnSpc>
              </a:pPr>
              <a:r>
                <a:rPr lang="en-US" sz="3926" b="true">
                  <a:solidFill>
                    <a:srgbClr val="2ECC7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💾 Database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13598" y="5389673"/>
              <a:ext cx="7604233" cy="1665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3"/>
                </a:lnSpc>
              </a:pPr>
              <a:r>
                <a:rPr lang="en-US" sz="2944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5.7+ • phpMyAdmin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9356849" y="3981402"/>
              <a:ext cx="8631973" cy="3246680"/>
              <a:chOff x="0" y="0"/>
              <a:chExt cx="5628183" cy="211688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18034" y="18034"/>
                <a:ext cx="5592064" cy="2080768"/>
              </a:xfrm>
              <a:custGeom>
                <a:avLst/>
                <a:gdLst/>
                <a:ahLst/>
                <a:cxnLst/>
                <a:rect r="r" b="b" t="t" l="l"/>
                <a:pathLst>
                  <a:path h="2080768" w="5592064">
                    <a:moveTo>
                      <a:pt x="0" y="0"/>
                    </a:moveTo>
                    <a:lnTo>
                      <a:pt x="5592064" y="0"/>
                    </a:lnTo>
                    <a:lnTo>
                      <a:pt x="5592064" y="2080768"/>
                    </a:lnTo>
                    <a:lnTo>
                      <a:pt x="0" y="2080768"/>
                    </a:lnTo>
                    <a:close/>
                  </a:path>
                </a:pathLst>
              </a:custGeom>
              <a:solidFill>
                <a:srgbClr val="F5F5F5"/>
              </a:solidFill>
            </p:spPr>
          </p:sp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5628132" cy="2116836"/>
              </a:xfrm>
              <a:custGeom>
                <a:avLst/>
                <a:gdLst/>
                <a:ahLst/>
                <a:cxnLst/>
                <a:rect r="r" b="b" t="t" l="l"/>
                <a:pathLst>
                  <a:path h="2116836" w="5628132">
                    <a:moveTo>
                      <a:pt x="18034" y="0"/>
                    </a:moveTo>
                    <a:lnTo>
                      <a:pt x="5610098" y="0"/>
                    </a:lnTo>
                    <a:cubicBezTo>
                      <a:pt x="5620131" y="0"/>
                      <a:pt x="5628132" y="8128"/>
                      <a:pt x="5628132" y="18034"/>
                    </a:cubicBezTo>
                    <a:lnTo>
                      <a:pt x="5628132" y="2098802"/>
                    </a:lnTo>
                    <a:cubicBezTo>
                      <a:pt x="5628132" y="2108835"/>
                      <a:pt x="5620004" y="2116836"/>
                      <a:pt x="5610098" y="2116836"/>
                    </a:cubicBezTo>
                    <a:lnTo>
                      <a:pt x="18034" y="2116836"/>
                    </a:lnTo>
                    <a:cubicBezTo>
                      <a:pt x="8001" y="2116836"/>
                      <a:pt x="0" y="2108708"/>
                      <a:pt x="0" y="2098802"/>
                    </a:cubicBezTo>
                    <a:lnTo>
                      <a:pt x="0" y="18034"/>
                    </a:lnTo>
                    <a:cubicBezTo>
                      <a:pt x="0" y="8128"/>
                      <a:pt x="8128" y="0"/>
                      <a:pt x="18034" y="0"/>
                    </a:cubicBezTo>
                    <a:moveTo>
                      <a:pt x="18034" y="36068"/>
                    </a:moveTo>
                    <a:lnTo>
                      <a:pt x="18034" y="18034"/>
                    </a:lnTo>
                    <a:lnTo>
                      <a:pt x="36068" y="18034"/>
                    </a:lnTo>
                    <a:lnTo>
                      <a:pt x="36068" y="2098802"/>
                    </a:lnTo>
                    <a:lnTo>
                      <a:pt x="18034" y="2098802"/>
                    </a:lnTo>
                    <a:lnTo>
                      <a:pt x="18034" y="2080768"/>
                    </a:lnTo>
                    <a:lnTo>
                      <a:pt x="5610098" y="2080768"/>
                    </a:lnTo>
                    <a:lnTo>
                      <a:pt x="5610098" y="2098802"/>
                    </a:lnTo>
                    <a:lnTo>
                      <a:pt x="5592064" y="2098802"/>
                    </a:lnTo>
                    <a:lnTo>
                      <a:pt x="5592064" y="18034"/>
                    </a:lnTo>
                    <a:lnTo>
                      <a:pt x="5610098" y="18034"/>
                    </a:lnTo>
                    <a:lnTo>
                      <a:pt x="5610098" y="36068"/>
                    </a:lnTo>
                    <a:lnTo>
                      <a:pt x="18034" y="36068"/>
                    </a:lnTo>
                    <a:close/>
                  </a:path>
                </a:pathLst>
              </a:custGeom>
              <a:solidFill>
                <a:srgbClr val="2980B9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9870719" y="4304800"/>
              <a:ext cx="7604233" cy="8960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11"/>
                </a:lnSpc>
              </a:pPr>
              <a:r>
                <a:rPr lang="en-US" sz="3926" b="true">
                  <a:solidFill>
                    <a:srgbClr val="2980B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🛠️ Tools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870719" y="5336588"/>
              <a:ext cx="7604233" cy="1665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33"/>
                </a:lnSpc>
              </a:pPr>
              <a:r>
                <a:rPr lang="en-US" sz="2944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XAMPP • Composer • PHPMailer</a:t>
              </a:r>
            </a:p>
          </p:txBody>
        </p:sp>
      </p:grpSp>
    </p:spTree>
  </p:cSld>
  <p:clrMapOvr>
    <a:masterClrMapping/>
  </p:clrMapOvr>
  <p:transition spd="fast">
    <p:cover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1743986" y="-320060"/>
            <a:ext cx="3469786" cy="3469786"/>
          </a:xfrm>
          <a:custGeom>
            <a:avLst/>
            <a:gdLst/>
            <a:ahLst/>
            <a:cxnLst/>
            <a:rect r="r" b="b" t="t" l="l"/>
            <a:pathLst>
              <a:path h="3469786" w="3469786">
                <a:moveTo>
                  <a:pt x="0" y="0"/>
                </a:moveTo>
                <a:lnTo>
                  <a:pt x="3469786" y="0"/>
                </a:lnTo>
                <a:lnTo>
                  <a:pt x="3469786" y="3469786"/>
                </a:lnTo>
                <a:lnTo>
                  <a:pt x="0" y="346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7139480" y="8018192"/>
            <a:ext cx="3658115" cy="3658115"/>
          </a:xfrm>
          <a:custGeom>
            <a:avLst/>
            <a:gdLst/>
            <a:ahLst/>
            <a:cxnLst/>
            <a:rect r="r" b="b" t="t" l="l"/>
            <a:pathLst>
              <a:path h="3658115" w="3658115">
                <a:moveTo>
                  <a:pt x="3658115" y="3658115"/>
                </a:moveTo>
                <a:lnTo>
                  <a:pt x="0" y="3658115"/>
                </a:lnTo>
                <a:lnTo>
                  <a:pt x="0" y="0"/>
                </a:lnTo>
                <a:lnTo>
                  <a:pt x="3658115" y="0"/>
                </a:lnTo>
                <a:lnTo>
                  <a:pt x="3658115" y="365811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66978" y="9193749"/>
            <a:ext cx="3056132" cy="3150651"/>
          </a:xfrm>
          <a:custGeom>
            <a:avLst/>
            <a:gdLst/>
            <a:ahLst/>
            <a:cxnLst/>
            <a:rect r="r" b="b" t="t" l="l"/>
            <a:pathLst>
              <a:path h="3150651" w="3056132">
                <a:moveTo>
                  <a:pt x="0" y="0"/>
                </a:moveTo>
                <a:lnTo>
                  <a:pt x="3056132" y="0"/>
                </a:lnTo>
                <a:lnTo>
                  <a:pt x="3056132" y="3150651"/>
                </a:lnTo>
                <a:lnTo>
                  <a:pt x="0" y="31506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5462848" y="-2056233"/>
            <a:ext cx="3792130" cy="3909412"/>
          </a:xfrm>
          <a:custGeom>
            <a:avLst/>
            <a:gdLst/>
            <a:ahLst/>
            <a:cxnLst/>
            <a:rect r="r" b="b" t="t" l="l"/>
            <a:pathLst>
              <a:path h="3909412" w="3792130">
                <a:moveTo>
                  <a:pt x="3792130" y="3909413"/>
                </a:moveTo>
                <a:lnTo>
                  <a:pt x="0" y="3909413"/>
                </a:lnTo>
                <a:lnTo>
                  <a:pt x="0" y="0"/>
                </a:lnTo>
                <a:lnTo>
                  <a:pt x="3792130" y="0"/>
                </a:lnTo>
                <a:lnTo>
                  <a:pt x="3792130" y="390941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97339" y="1407816"/>
            <a:ext cx="9693323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USER WORKFLOW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2870173" y="4563591"/>
            <a:ext cx="1651472" cy="3865283"/>
          </a:xfrm>
          <a:custGeom>
            <a:avLst/>
            <a:gdLst/>
            <a:ahLst/>
            <a:cxnLst/>
            <a:rect r="r" b="b" t="t" l="l"/>
            <a:pathLst>
              <a:path h="3865283" w="1651472">
                <a:moveTo>
                  <a:pt x="1651472" y="0"/>
                </a:moveTo>
                <a:lnTo>
                  <a:pt x="0" y="0"/>
                </a:lnTo>
                <a:lnTo>
                  <a:pt x="0" y="3865283"/>
                </a:lnTo>
                <a:lnTo>
                  <a:pt x="1651472" y="3865283"/>
                </a:lnTo>
                <a:lnTo>
                  <a:pt x="1651472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-69339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219200" y="3542271"/>
            <a:ext cx="4207292" cy="2169408"/>
            <a:chOff x="0" y="0"/>
            <a:chExt cx="1108093" cy="5713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8093" cy="571367"/>
            </a:xfrm>
            <a:custGeom>
              <a:avLst/>
              <a:gdLst/>
              <a:ahLst/>
              <a:cxnLst/>
              <a:rect r="r" b="b" t="t" l="l"/>
              <a:pathLst>
                <a:path h="571367" w="1108093">
                  <a:moveTo>
                    <a:pt x="0" y="0"/>
                  </a:moveTo>
                  <a:lnTo>
                    <a:pt x="1108093" y="0"/>
                  </a:lnTo>
                  <a:lnTo>
                    <a:pt x="1108093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2980B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08093" cy="60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518646" y="4563591"/>
            <a:ext cx="1212579" cy="198892"/>
          </a:xfrm>
          <a:custGeom>
            <a:avLst/>
            <a:gdLst/>
            <a:ahLst/>
            <a:cxnLst/>
            <a:rect r="r" b="b" t="t" l="l"/>
            <a:pathLst>
              <a:path h="198892" w="1212579">
                <a:moveTo>
                  <a:pt x="0" y="0"/>
                </a:moveTo>
                <a:lnTo>
                  <a:pt x="1212578" y="0"/>
                </a:lnTo>
                <a:lnTo>
                  <a:pt x="1212578" y="198892"/>
                </a:lnTo>
                <a:lnTo>
                  <a:pt x="0" y="198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9353" t="0" r="-183202" b="-19688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0984593" y="4563591"/>
            <a:ext cx="1212579" cy="198892"/>
          </a:xfrm>
          <a:custGeom>
            <a:avLst/>
            <a:gdLst/>
            <a:ahLst/>
            <a:cxnLst/>
            <a:rect r="r" b="b" t="t" l="l"/>
            <a:pathLst>
              <a:path h="198892" w="1212579">
                <a:moveTo>
                  <a:pt x="0" y="0"/>
                </a:moveTo>
                <a:lnTo>
                  <a:pt x="1212579" y="0"/>
                </a:lnTo>
                <a:lnTo>
                  <a:pt x="1212579" y="198892"/>
                </a:lnTo>
                <a:lnTo>
                  <a:pt x="0" y="198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9353" t="0" r="-183202" b="-196886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8228581" y="8173596"/>
            <a:ext cx="1212579" cy="198892"/>
          </a:xfrm>
          <a:custGeom>
            <a:avLst/>
            <a:gdLst/>
            <a:ahLst/>
            <a:cxnLst/>
            <a:rect r="r" b="b" t="t" l="l"/>
            <a:pathLst>
              <a:path h="198892" w="1212579">
                <a:moveTo>
                  <a:pt x="0" y="0"/>
                </a:moveTo>
                <a:lnTo>
                  <a:pt x="1212579" y="0"/>
                </a:lnTo>
                <a:lnTo>
                  <a:pt x="1212579" y="198892"/>
                </a:lnTo>
                <a:lnTo>
                  <a:pt x="0" y="198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9353" t="0" r="-183202" b="-196886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6731224" y="3542271"/>
            <a:ext cx="4207292" cy="2169408"/>
            <a:chOff x="0" y="0"/>
            <a:chExt cx="1108093" cy="5713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8093" cy="571367"/>
            </a:xfrm>
            <a:custGeom>
              <a:avLst/>
              <a:gdLst/>
              <a:ahLst/>
              <a:cxnLst/>
              <a:rect r="r" b="b" t="t" l="l"/>
              <a:pathLst>
                <a:path h="571367" w="1108093">
                  <a:moveTo>
                    <a:pt x="0" y="0"/>
                  </a:moveTo>
                  <a:lnTo>
                    <a:pt x="1108093" y="0"/>
                  </a:lnTo>
                  <a:lnTo>
                    <a:pt x="1108093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2980B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08093" cy="60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021289" y="7072178"/>
            <a:ext cx="4207292" cy="2169408"/>
            <a:chOff x="0" y="0"/>
            <a:chExt cx="1108093" cy="5713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8093" cy="571367"/>
            </a:xfrm>
            <a:custGeom>
              <a:avLst/>
              <a:gdLst/>
              <a:ahLst/>
              <a:cxnLst/>
              <a:rect r="r" b="b" t="t" l="l"/>
              <a:pathLst>
                <a:path h="571367" w="1108093">
                  <a:moveTo>
                    <a:pt x="0" y="0"/>
                  </a:moveTo>
                  <a:lnTo>
                    <a:pt x="1108093" y="0"/>
                  </a:lnTo>
                  <a:lnTo>
                    <a:pt x="1108093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2980B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08093" cy="60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43249" y="3542271"/>
            <a:ext cx="4207292" cy="2169408"/>
            <a:chOff x="0" y="0"/>
            <a:chExt cx="1108093" cy="5713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8093" cy="571367"/>
            </a:xfrm>
            <a:custGeom>
              <a:avLst/>
              <a:gdLst/>
              <a:ahLst/>
              <a:cxnLst/>
              <a:rect r="r" b="b" t="t" l="l"/>
              <a:pathLst>
                <a:path h="571367" w="1108093">
                  <a:moveTo>
                    <a:pt x="0" y="0"/>
                  </a:moveTo>
                  <a:lnTo>
                    <a:pt x="1108093" y="0"/>
                  </a:lnTo>
                  <a:lnTo>
                    <a:pt x="1108093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2980B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08093" cy="60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86484" y="7088892"/>
            <a:ext cx="4207292" cy="2169408"/>
            <a:chOff x="0" y="0"/>
            <a:chExt cx="1108093" cy="5713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8093" cy="571367"/>
            </a:xfrm>
            <a:custGeom>
              <a:avLst/>
              <a:gdLst/>
              <a:ahLst/>
              <a:cxnLst/>
              <a:rect r="r" b="b" t="t" l="l"/>
              <a:pathLst>
                <a:path h="571367" w="1108093">
                  <a:moveTo>
                    <a:pt x="0" y="0"/>
                  </a:moveTo>
                  <a:lnTo>
                    <a:pt x="1108093" y="0"/>
                  </a:lnTo>
                  <a:lnTo>
                    <a:pt x="1108093" y="571367"/>
                  </a:lnTo>
                  <a:lnTo>
                    <a:pt x="0" y="571367"/>
                  </a:lnTo>
                  <a:close/>
                </a:path>
              </a:pathLst>
            </a:custGeom>
            <a:solidFill>
              <a:srgbClr val="2980B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08093" cy="609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63863" y="3952617"/>
            <a:ext cx="3517966" cy="12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👤 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ecure authentication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85915" y="2877428"/>
            <a:ext cx="473862" cy="56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25741" y="2877428"/>
            <a:ext cx="618259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815805" y="6410508"/>
            <a:ext cx="618259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91212" y="2877428"/>
            <a:ext cx="711365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57329" y="6410442"/>
            <a:ext cx="711365" cy="566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strike="noStrike" u="non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75887" y="3952617"/>
            <a:ext cx="3517966" cy="12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📂 Cat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egory selection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35322" y="4021860"/>
            <a:ext cx="3517966" cy="12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👁️ Produ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ct visualization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352139" y="7481753"/>
            <a:ext cx="3517966" cy="12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📊 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Sto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ck update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4028" y="7450842"/>
            <a:ext cx="3517966" cy="12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9"/>
              </a:lnSpc>
              <a:spcBef>
                <a:spcPct val="0"/>
              </a:spcBef>
            </a:pP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🔄 CRUD op</a:t>
            </a:r>
            <a:r>
              <a:rPr lang="en-US" b="true" sz="3513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erations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8397515"/>
            <a:ext cx="3828478" cy="3946885"/>
          </a:xfrm>
          <a:custGeom>
            <a:avLst/>
            <a:gdLst/>
            <a:ahLst/>
            <a:cxnLst/>
            <a:rect r="r" b="b" t="t" l="l"/>
            <a:pathLst>
              <a:path h="3946885" w="3828478">
                <a:moveTo>
                  <a:pt x="0" y="0"/>
                </a:moveTo>
                <a:lnTo>
                  <a:pt x="3828478" y="0"/>
                </a:lnTo>
                <a:lnTo>
                  <a:pt x="3828478" y="3946885"/>
                </a:lnTo>
                <a:lnTo>
                  <a:pt x="0" y="3946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97339" y="364556"/>
            <a:ext cx="9693323" cy="2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SECURITY &amp; VALIDATION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6832" y="3747761"/>
            <a:ext cx="6424913" cy="82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7"/>
              </a:lnSpc>
            </a:pPr>
            <a:r>
              <a:rPr lang="en-US" sz="4898" b="true">
                <a:solidFill>
                  <a:srgbClr val="2980B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Implemented Measures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16832" y="4886537"/>
            <a:ext cx="7267524" cy="226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08"/>
              </a:lnSpc>
              <a:spcBef>
                <a:spcPct val="0"/>
              </a:spcBef>
            </a:pPr>
            <a:r>
              <a:rPr lang="en-US" sz="3673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•User authentication</a:t>
            </a:r>
          </a:p>
          <a:p>
            <a:pPr algn="l" marL="0" indent="0" lvl="0">
              <a:lnSpc>
                <a:spcPts val="4408"/>
              </a:lnSpc>
              <a:spcBef>
                <a:spcPct val="0"/>
              </a:spcBef>
            </a:pPr>
            <a:r>
              <a:rPr lang="en-US" sz="3673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•Password hashing (BCRYPT)</a:t>
            </a:r>
          </a:p>
          <a:p>
            <a:pPr algn="l" marL="0" indent="0" lvl="0">
              <a:lnSpc>
                <a:spcPts val="4408"/>
              </a:lnSpc>
              <a:spcBef>
                <a:spcPct val="0"/>
              </a:spcBef>
            </a:pPr>
            <a:r>
              <a:rPr lang="en-US" sz="3673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•Server-side data validation</a:t>
            </a:r>
          </a:p>
          <a:p>
            <a:pPr algn="l" marL="0" indent="0" lvl="0">
              <a:lnSpc>
                <a:spcPts val="4408"/>
              </a:lnSpc>
              <a:spcBef>
                <a:spcPct val="0"/>
              </a:spcBef>
            </a:pPr>
            <a:r>
              <a:rPr lang="en-US" sz="3673" strike="noStrike" u="none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•Duplicate prevention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16783" y="3747761"/>
            <a:ext cx="6424913" cy="824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7"/>
              </a:lnSpc>
            </a:pPr>
            <a:r>
              <a:rPr lang="en-US" sz="4898" b="true">
                <a:solidFill>
                  <a:srgbClr val="9B59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Constraints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6783" y="4886537"/>
            <a:ext cx="6930479" cy="2263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8"/>
              </a:lnSpc>
            </a:pPr>
            <a:r>
              <a:rPr lang="en-US" sz="367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</a:t>
            </a:r>
            <a:r>
              <a:rPr lang="en-US" sz="367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Unique product reference</a:t>
            </a:r>
          </a:p>
          <a:p>
            <a:pPr algn="l">
              <a:lnSpc>
                <a:spcPts val="4408"/>
              </a:lnSpc>
            </a:pPr>
            <a:r>
              <a:rPr lang="en-US" sz="367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•Strictly positive price</a:t>
            </a:r>
          </a:p>
          <a:p>
            <a:pPr algn="l">
              <a:lnSpc>
                <a:spcPts val="4408"/>
              </a:lnSpc>
            </a:pPr>
            <a:r>
              <a:rPr lang="en-US" sz="367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•Quantity &gt;= 0</a:t>
            </a:r>
          </a:p>
          <a:p>
            <a:pPr algn="l">
              <a:lnSpc>
                <a:spcPts val="4408"/>
              </a:lnSpc>
            </a:pPr>
            <a:r>
              <a:rPr lang="en-US" sz="3673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•Mandatory category</a:t>
            </a:r>
          </a:p>
        </p:txBody>
      </p:sp>
    </p:spTree>
  </p:cSld>
  <p:clrMapOvr>
    <a:masterClrMapping/>
  </p:clrMapOvr>
  <p:transition spd="fast">
    <p:cover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946633" y="5531183"/>
            <a:ext cx="4951795" cy="4951795"/>
          </a:xfrm>
          <a:custGeom>
            <a:avLst/>
            <a:gdLst/>
            <a:ahLst/>
            <a:cxnLst/>
            <a:rect r="r" b="b" t="t" l="l"/>
            <a:pathLst>
              <a:path h="4951795" w="4951795">
                <a:moveTo>
                  <a:pt x="4951795" y="4951795"/>
                </a:moveTo>
                <a:lnTo>
                  <a:pt x="0" y="4951795"/>
                </a:lnTo>
                <a:lnTo>
                  <a:pt x="0" y="0"/>
                </a:lnTo>
                <a:lnTo>
                  <a:pt x="4951795" y="0"/>
                </a:lnTo>
                <a:lnTo>
                  <a:pt x="4951795" y="495179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8397515"/>
            <a:ext cx="3828478" cy="3946885"/>
          </a:xfrm>
          <a:custGeom>
            <a:avLst/>
            <a:gdLst/>
            <a:ahLst/>
            <a:cxnLst/>
            <a:rect r="r" b="b" t="t" l="l"/>
            <a:pathLst>
              <a:path h="3946885" w="3828478">
                <a:moveTo>
                  <a:pt x="0" y="0"/>
                </a:moveTo>
                <a:lnTo>
                  <a:pt x="3828478" y="0"/>
                </a:lnTo>
                <a:lnTo>
                  <a:pt x="3828478" y="3946885"/>
                </a:lnTo>
                <a:lnTo>
                  <a:pt x="0" y="39468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681944">
            <a:off x="4691691" y="-345909"/>
            <a:ext cx="8904617" cy="11452884"/>
          </a:xfrm>
          <a:custGeom>
            <a:avLst/>
            <a:gdLst/>
            <a:ahLst/>
            <a:cxnLst/>
            <a:rect r="r" b="b" t="t" l="l"/>
            <a:pathLst>
              <a:path h="11452884" w="8904617">
                <a:moveTo>
                  <a:pt x="0" y="0"/>
                </a:moveTo>
                <a:lnTo>
                  <a:pt x="8904618" y="0"/>
                </a:lnTo>
                <a:lnTo>
                  <a:pt x="8904618" y="11452884"/>
                </a:lnTo>
                <a:lnTo>
                  <a:pt x="0" y="114528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310500">
            <a:off x="4724566" y="4164975"/>
            <a:ext cx="8781391" cy="384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 7 functional PHP pages</a:t>
            </a:r>
          </a:p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 3 normalized MySQL tables</a:t>
            </a:r>
          </a:p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 11 categories &amp; 110 products in stock</a:t>
            </a:r>
          </a:p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 Responsive and intuitive interface</a:t>
            </a:r>
          </a:p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Complete data validation</a:t>
            </a:r>
          </a:p>
          <a:p>
            <a:pPr algn="l">
              <a:lnSpc>
                <a:spcPts val="5049"/>
              </a:lnSpc>
            </a:pPr>
            <a:r>
              <a:rPr lang="en-US" sz="4207">
                <a:solidFill>
                  <a:srgbClr val="2C3E50"/>
                </a:solidFill>
                <a:latin typeface="Calibri (MS)"/>
                <a:ea typeface="Calibri (MS)"/>
                <a:cs typeface="Calibri (MS)"/>
                <a:sym typeface="Calibri (MS)"/>
              </a:rPr>
              <a:t>•  Robust error handling</a:t>
            </a:r>
          </a:p>
        </p:txBody>
      </p:sp>
      <p:sp>
        <p:nvSpPr>
          <p:cNvPr name="TextBox 11" id="11"/>
          <p:cNvSpPr txBox="true"/>
          <p:nvPr/>
        </p:nvSpPr>
        <p:spPr>
          <a:xfrm rot="324869">
            <a:off x="4594090" y="2572159"/>
            <a:ext cx="9560764" cy="111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91"/>
              </a:lnSpc>
            </a:pPr>
            <a:r>
              <a:rPr lang="en-US" b="true" sz="8091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PROJECT RESULTS</a:t>
            </a:r>
          </a:p>
        </p:txBody>
      </p:sp>
    </p:spTree>
  </p:cSld>
  <p:clrMapOvr>
    <a:masterClrMapping/>
  </p:clrMapOvr>
  <p:transition spd="fast">
    <p:cover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12555" y="2900641"/>
            <a:ext cx="12262889" cy="4935813"/>
          </a:xfrm>
          <a:custGeom>
            <a:avLst/>
            <a:gdLst/>
            <a:ahLst/>
            <a:cxnLst/>
            <a:rect r="r" b="b" t="t" l="l"/>
            <a:pathLst>
              <a:path h="4935813" w="12262889">
                <a:moveTo>
                  <a:pt x="0" y="0"/>
                </a:moveTo>
                <a:lnTo>
                  <a:pt x="12262890" y="0"/>
                </a:lnTo>
                <a:lnTo>
                  <a:pt x="12262890" y="4935813"/>
                </a:lnTo>
                <a:lnTo>
                  <a:pt x="0" y="49358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64393" y="4102873"/>
            <a:ext cx="13559213" cy="320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Successful development of a complete web application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Solves a real problem with an efficient and scalable solution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User-friendly design and smooth user experience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Built with modern technologies and best practices</a:t>
            </a:r>
          </a:p>
          <a:p>
            <a:pPr algn="just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004AAD"/>
                </a:solidFill>
                <a:latin typeface="DM Sans"/>
                <a:ea typeface="DM Sans"/>
                <a:cs typeface="DM Sans"/>
                <a:sym typeface="DM Sans"/>
              </a:rPr>
              <a:t>Strong potential for future improvements and expansion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610990" y="2255520"/>
            <a:ext cx="906602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</a:pPr>
            <a:r>
              <a:rPr lang="en-US" b="true" sz="9000">
                <a:solidFill>
                  <a:srgbClr val="004AAD"/>
                </a:solidFill>
                <a:latin typeface="Akzentica Bold"/>
                <a:ea typeface="Akzentica Bold"/>
                <a:cs typeface="Akzentica Bold"/>
                <a:sym typeface="Akzentica Bold"/>
              </a:rPr>
              <a:t>CONCLUSION</a:t>
            </a:r>
          </a:p>
        </p:txBody>
      </p:sp>
    </p:spTree>
  </p:cSld>
  <p:clrMapOvr>
    <a:masterClrMapping/>
  </p:clrMapOvr>
  <p:transition spd="fast">
    <p:cover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2" r="0" b="-2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82028">
            <a:off x="-2655251" y="23980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0" y="0"/>
                </a:moveTo>
                <a:lnTo>
                  <a:pt x="5142433" y="0"/>
                </a:lnTo>
                <a:lnTo>
                  <a:pt x="5142433" y="5142433"/>
                </a:lnTo>
                <a:lnTo>
                  <a:pt x="0" y="51424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482028">
            <a:off x="15716783" y="5427323"/>
            <a:ext cx="5142433" cy="5142433"/>
          </a:xfrm>
          <a:custGeom>
            <a:avLst/>
            <a:gdLst/>
            <a:ahLst/>
            <a:cxnLst/>
            <a:rect r="r" b="b" t="t" l="l"/>
            <a:pathLst>
              <a:path h="5142433" w="5142433">
                <a:moveTo>
                  <a:pt x="5142434" y="5142433"/>
                </a:moveTo>
                <a:lnTo>
                  <a:pt x="0" y="5142433"/>
                </a:lnTo>
                <a:lnTo>
                  <a:pt x="0" y="0"/>
                </a:lnTo>
                <a:lnTo>
                  <a:pt x="5142434" y="0"/>
                </a:lnTo>
                <a:lnTo>
                  <a:pt x="5142434" y="514243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6571617" y="3757559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0" y="0"/>
                </a:moveTo>
                <a:lnTo>
                  <a:pt x="1375366" y="0"/>
                </a:lnTo>
                <a:lnTo>
                  <a:pt x="1375366" y="1224076"/>
                </a:lnTo>
                <a:lnTo>
                  <a:pt x="0" y="1224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341017" y="6012854"/>
            <a:ext cx="1375366" cy="1224076"/>
          </a:xfrm>
          <a:custGeom>
            <a:avLst/>
            <a:gdLst/>
            <a:ahLst/>
            <a:cxnLst/>
            <a:rect r="r" b="b" t="t" l="l"/>
            <a:pathLst>
              <a:path h="1224076" w="1375366">
                <a:moveTo>
                  <a:pt x="1375366" y="1224076"/>
                </a:moveTo>
                <a:lnTo>
                  <a:pt x="0" y="1224076"/>
                </a:lnTo>
                <a:lnTo>
                  <a:pt x="0" y="0"/>
                </a:lnTo>
                <a:lnTo>
                  <a:pt x="1375366" y="0"/>
                </a:lnTo>
                <a:lnTo>
                  <a:pt x="1375366" y="122407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66978" y="7692971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0" y="0"/>
                </a:moveTo>
                <a:lnTo>
                  <a:pt x="4511886" y="0"/>
                </a:lnTo>
                <a:lnTo>
                  <a:pt x="4511886" y="4651429"/>
                </a:lnTo>
                <a:lnTo>
                  <a:pt x="0" y="46514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4743092" y="-2056233"/>
            <a:ext cx="4511886" cy="4651429"/>
          </a:xfrm>
          <a:custGeom>
            <a:avLst/>
            <a:gdLst/>
            <a:ahLst/>
            <a:cxnLst/>
            <a:rect r="r" b="b" t="t" l="l"/>
            <a:pathLst>
              <a:path h="4651429" w="4511886">
                <a:moveTo>
                  <a:pt x="4511886" y="4651429"/>
                </a:moveTo>
                <a:lnTo>
                  <a:pt x="0" y="4651429"/>
                </a:lnTo>
                <a:lnTo>
                  <a:pt x="0" y="0"/>
                </a:lnTo>
                <a:lnTo>
                  <a:pt x="4511886" y="0"/>
                </a:lnTo>
                <a:lnTo>
                  <a:pt x="4511886" y="465142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0500" y="87699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7528" y="540319"/>
            <a:ext cx="976761" cy="976761"/>
          </a:xfrm>
          <a:custGeom>
            <a:avLst/>
            <a:gdLst/>
            <a:ahLst/>
            <a:cxnLst/>
            <a:rect r="r" b="b" t="t" l="l"/>
            <a:pathLst>
              <a:path h="976761" w="976761">
                <a:moveTo>
                  <a:pt x="0" y="0"/>
                </a:moveTo>
                <a:lnTo>
                  <a:pt x="976762" y="0"/>
                </a:lnTo>
                <a:lnTo>
                  <a:pt x="976762" y="976762"/>
                </a:lnTo>
                <a:lnTo>
                  <a:pt x="0" y="976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889012" y="2551716"/>
            <a:ext cx="6509976" cy="5183568"/>
          </a:xfrm>
          <a:custGeom>
            <a:avLst/>
            <a:gdLst/>
            <a:ahLst/>
            <a:cxnLst/>
            <a:rect r="r" b="b" t="t" l="l"/>
            <a:pathLst>
              <a:path h="5183568" w="6509976">
                <a:moveTo>
                  <a:pt x="0" y="0"/>
                </a:moveTo>
                <a:lnTo>
                  <a:pt x="6509976" y="0"/>
                </a:lnTo>
                <a:lnTo>
                  <a:pt x="6509976" y="5183568"/>
                </a:lnTo>
                <a:lnTo>
                  <a:pt x="0" y="51835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DAHIaB4yspU</dc:identifier>
  <dcterms:modified xsi:type="dcterms:W3CDTF">2011-08-01T06:04:30Z</dcterms:modified>
  <cp:revision>1</cp:revision>
  <dc:title>projet_web</dc:title>
</cp:coreProperties>
</file>